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4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4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4.xml><?xml version="1.0" encoding="utf-8"?>
<a:tblStyleLst xmlns:a="http://schemas.openxmlformats.org/drawingml/2006/main" xmlns:r="http://schemas.openxmlformats.org/officeDocument/2006/relationships" def="{769160A5-7151-40DC-AD2F-DF639DDC4D61}">
  <a:tblStyle styleId="{769160A5-7151-40DC-AD2F-DF639DDC4D6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234F602-4A12-4DC8-8E30-0103774CEA1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BF7F2801-9FCB-4CD0-8AA1-7FAD7743899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387E5646-E173-412A-A48C-22DDCCAAC9C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4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4.xml"/><Relationship Id="rId3" Type="http://schemas.openxmlformats.org/officeDocument/2006/relationships/presProps" Target="presProps4.xml"/><Relationship Id="rId4" Type="http://schemas.openxmlformats.org/officeDocument/2006/relationships/tableStyles" Target="tableStyles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C0114D0-443D-1458-5CEA-B454FF1E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3F8164D-B529-1E2D-90A4-CEAF68E29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2875D5A-8299-6397-98C9-B4D572D1CC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8816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FE839E1-E7EA-D8F7-1E42-5B0D658EB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DBEC563C-B700-151B-FF81-EE4F166DB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5CA355B4-E37F-F13F-2A18-812256D92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0726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/>
          <p:nvPr/>
        </p:nvSpPr>
        <p:spPr>
          <a:xfrm>
            <a:off x="0" y="2116610"/>
            <a:ext cx="9144000" cy="550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sng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WX UPDATE </a:t>
            </a:r>
            <a:r>
              <a:rPr b="1" lang="en-IN" sz="2400" u="sng">
                <a:solidFill>
                  <a:schemeClr val="dk2"/>
                </a:solidFill>
              </a:rPr>
              <a:t>20</a:t>
            </a:r>
            <a:r>
              <a:rPr b="1" i="0" lang="en-IN" sz="2400" u="sng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SEPT 2026</a:t>
            </a:r>
            <a:endParaRPr b="1" i="0" sz="2400" u="sng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0" y="-104075"/>
            <a:ext cx="9144000" cy="550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sng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WX UPDATE 20 SEPT 2026</a:t>
            </a:r>
            <a:endParaRPr b="1" i="0" sz="2400" u="sng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4" name="Google Shape;94;p1"/>
          <p:cNvGraphicFramePr/>
          <p:nvPr/>
        </p:nvGraphicFramePr>
        <p:xfrm>
          <a:off x="0" y="4461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{769160A5-7151-40DC-AD2F-DF639DDC4D61}</a:tableStyleId>
              </a:tblPr>
              <a:tblGrid>
                <a:gridCol w="745175"/>
                <a:gridCol w="1387950"/>
                <a:gridCol w="1195825"/>
                <a:gridCol w="2503575"/>
                <a:gridCol w="1827525"/>
                <a:gridCol w="1483975"/>
              </a:tblGrid>
              <a:tr h="43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sng" cap="none" strike="noStrike"/>
                        <a:t>Ser No</a:t>
                      </a:r>
                      <a:endParaRPr b="1" sz="850" u="sng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sng" cap="none" strike="noStrike"/>
                        <a:t>Loc</a:t>
                      </a:r>
                      <a:endParaRPr b="1" sz="850" u="sng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sng" cap="none" strike="noStrike"/>
                        <a:t>Wx App</a:t>
                      </a:r>
                      <a:endParaRPr b="1" sz="850" u="sng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sng" cap="none" strike="noStrike"/>
                        <a:t>Forecast</a:t>
                      </a:r>
                      <a:endParaRPr b="1" sz="850" u="sng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sng" cap="none" strike="noStrike"/>
                        <a:t>Rain mm/%</a:t>
                      </a:r>
                      <a:endParaRPr b="1" sz="850" u="sng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sng" cap="none" strike="noStrike"/>
                        <a:t>Cloud cover %</a:t>
                      </a:r>
                      <a:endParaRPr b="1" sz="850" u="sng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sng" cap="none" strike="noStrike"/>
                        <a:t>Remarks</a:t>
                      </a:r>
                      <a:endParaRPr b="1" sz="850" u="sng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1</a:t>
                      </a:r>
                      <a:endParaRPr b="1" sz="85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NASHIK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Windy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Accuwx</a:t>
                      </a:r>
                      <a:endParaRPr b="1" sz="85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0mm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60%</a:t>
                      </a:r>
                      <a:endParaRPr b="1" sz="85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75%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55%</a:t>
                      </a:r>
                      <a:endParaRPr b="1" sz="85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>
                          <a:solidFill>
                            <a:srgbClr val="FF9900"/>
                          </a:solidFill>
                        </a:rPr>
                        <a:t>LTD</a:t>
                      </a:r>
                      <a:r>
                        <a:rPr b="1" lang="en-IN" sz="850" u="none" cap="none" strike="noStrike">
                          <a:solidFill>
                            <a:srgbClr val="FF9900"/>
                          </a:solidFill>
                        </a:rPr>
                        <a:t> GO</a:t>
                      </a:r>
                      <a:endParaRPr sz="1400" u="none" cap="none" strike="noStrike">
                        <a:solidFill>
                          <a:srgbClr val="FF99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>
                        <a:solidFill>
                          <a:srgbClr val="FFC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>
                          <a:solidFill>
                            <a:srgbClr val="FFC000"/>
                          </a:solidFill>
                        </a:rPr>
                        <a:t>LTD 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2</a:t>
                      </a:r>
                      <a:endParaRPr b="1" sz="85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MUMBAI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Windy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Accuwx</a:t>
                      </a:r>
                      <a:endParaRPr b="1" sz="85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0.3mm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61%</a:t>
                      </a:r>
                      <a:endParaRPr b="1" sz="85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45%</a:t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31%</a:t>
                      </a:r>
                      <a:endParaRPr b="1" sz="85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>
                          <a:solidFill>
                            <a:srgbClr val="00FF00"/>
                          </a:solidFill>
                        </a:rPr>
                        <a:t>GO</a:t>
                      </a:r>
                      <a:endParaRPr b="1" sz="850" u="none" cap="none" strike="noStrike">
                        <a:solidFill>
                          <a:srgbClr val="00FF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>
                          <a:solidFill>
                            <a:srgbClr val="FFC000"/>
                          </a:solidFill>
                        </a:rPr>
                        <a:t>LTD 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3</a:t>
                      </a:r>
                      <a:endParaRPr b="1" sz="85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PUNE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Accuwx</a:t>
                      </a:r>
                      <a:endParaRPr b="1" sz="85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0.2mm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63%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62%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29%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>
                          <a:solidFill>
                            <a:srgbClr val="FFC000"/>
                          </a:solidFill>
                        </a:rPr>
                        <a:t>LTD 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>
                        <a:solidFill>
                          <a:srgbClr val="FFC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>
                          <a:solidFill>
                            <a:srgbClr val="FFC000"/>
                          </a:solidFill>
                        </a:rPr>
                        <a:t>LTD 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4</a:t>
                      </a:r>
                      <a:endParaRPr b="1" sz="85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AHMEDNAGAR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Accuwx</a:t>
                      </a:r>
                      <a:endParaRPr b="1" sz="85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0mm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55%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51%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42%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>
                          <a:solidFill>
                            <a:srgbClr val="FFC000"/>
                          </a:solidFill>
                        </a:rPr>
                        <a:t>LTD 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>
                        <a:solidFill>
                          <a:srgbClr val="00B05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>
                          <a:solidFill>
                            <a:srgbClr val="FF9900"/>
                          </a:solidFill>
                        </a:rPr>
                        <a:t>LTD GO</a:t>
                      </a:r>
                      <a:endParaRPr b="1" sz="850" u="none" cap="none" strike="noStrike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5</a:t>
                      </a:r>
                      <a:endParaRPr b="1" sz="85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AURANGABAD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Windy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Accuwx</a:t>
                      </a:r>
                      <a:endParaRPr b="1" sz="85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0.0mm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55%</a:t>
                      </a:r>
                      <a:endParaRPr b="1" sz="85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54%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/>
                        <a:t>37%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>
                          <a:solidFill>
                            <a:srgbClr val="FFC000"/>
                          </a:solidFill>
                        </a:rPr>
                        <a:t>LTD 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b="1" sz="850" u="none" cap="none" strike="noStrike">
                        <a:solidFill>
                          <a:srgbClr val="00B05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850" u="none" cap="none" strike="noStrike">
                          <a:solidFill>
                            <a:srgbClr val="FFC000"/>
                          </a:solidFill>
                        </a:rPr>
                        <a:t>LTD GO</a:t>
                      </a:r>
                      <a:endParaRPr b="1" sz="85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" name="Google Shape;95;p1"/>
          <p:cNvGraphicFramePr/>
          <p:nvPr/>
        </p:nvGraphicFramePr>
        <p:xfrm>
          <a:off x="4906737" y="4229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{2234F602-4A12-4DC8-8E30-0103774CEA13}</a:tableStyleId>
              </a:tblPr>
              <a:tblGrid>
                <a:gridCol w="1412425"/>
                <a:gridCol w="1412425"/>
                <a:gridCol w="1412425"/>
              </a:tblGrid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t/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900" u="sng" cap="none" strike="noStrike"/>
                        <a:t>RAIN</a:t>
                      </a:r>
                      <a:endParaRPr b="1" sz="900" u="sng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b="1" lang="en-IN" sz="900" u="sng" cap="none" strike="noStrike"/>
                        <a:t>CLOUD</a:t>
                      </a:r>
                      <a:endParaRPr b="1" sz="900" u="sng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&lt;1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&lt;50%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LTD 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1-5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50%-90%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1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/>
                        <a:t>NO GO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&gt;5 MM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 spc="0" sz="1400" u="none" cap="none" strike="noStrike"/>
                      </a:pPr>
                      <a:r>
                        <a:rPr lang="en-I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&gt;90%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3347" y="1174478"/>
            <a:ext cx="4166462" cy="309784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 txBox="1"/>
          <p:nvPr/>
        </p:nvSpPr>
        <p:spPr>
          <a:xfrm>
            <a:off x="0" y="0"/>
            <a:ext cx="9144000" cy="550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sng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WX UPDATE </a:t>
            </a:r>
            <a:r>
              <a:rPr b="1" lang="en-IN" sz="2400" u="sng">
                <a:solidFill>
                  <a:schemeClr val="dk2"/>
                </a:solidFill>
              </a:rPr>
              <a:t>20</a:t>
            </a:r>
            <a:r>
              <a:rPr b="1" i="0" lang="en-IN" sz="2400" u="sng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SEPT 2026</a:t>
            </a:r>
            <a:endParaRPr b="1" i="0" sz="2400" u="sng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2782746" y="2001088"/>
            <a:ext cx="939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NASHIK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3162239" y="2150650"/>
            <a:ext cx="1510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AURANGABAD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2989109" y="2446406"/>
            <a:ext cx="1510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AHMEDNAGAR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2193354" y="2592600"/>
            <a:ext cx="939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MUMBAI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2692792" y="2785500"/>
            <a:ext cx="93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