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4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4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4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4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4.xml><?xml version="1.0" encoding="utf-8"?>
<a:tblStyleLst xmlns:a="http://schemas.openxmlformats.org/drawingml/2006/main" xmlns:r="http://schemas.openxmlformats.org/officeDocument/2006/relationships" def="{769160A5-7151-40DC-AD2F-DF639DDC4D61}">
  <a:tblStyle styleId="{769160A5-7151-40DC-AD2F-DF639DDC4D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2234F602-4A12-4DC8-8E30-0103774CEA13}" styleName="Table_1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BF7F2801-9FCB-4CD0-8AA1-7FAD7743899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387E5646-E173-412A-A48C-22DDCCAAC9C1}" styleName="Table_1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4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4.xml"/><Relationship Id="rId3" Type="http://schemas.openxmlformats.org/officeDocument/2006/relationships/presProps" Target="presProps4.xml"/><Relationship Id="rId4" Type="http://schemas.openxmlformats.org/officeDocument/2006/relationships/tableStyles" Target="tableStyles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C0114D0-443D-1458-5CEA-B454FF1E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3F8164D-B529-1E2D-90A4-CEAF68E29D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2875D5A-8299-6397-98C9-B4D572D1CC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88160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"/>
          <p:cNvSpPr txBox="1"/>
          <p:nvPr/>
        </p:nvSpPr>
        <p:spPr>
          <a:xfrm>
            <a:off x="0" y="2116610"/>
            <a:ext cx="9144000" cy="550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91425" lIns="91425" spcFirstLastPara="1" rIns="91425" wrap="non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1600" b="1" u="sng">
                <a:solidFill>
                  <a:srgbClr val="1B365D"/>
                </a:solidFill>
                <a:latin typeface="Arial"/>
              </a:rPr>
              <a:t>WX UPDATE 12 OCT 2026 - 16 OCT 2026</a:t>
            </a:r>
            <a:endParaRPr b="1" i="0" sz="2400" u="sng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0" y="-104075"/>
            <a:ext cx="9144000" cy="550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91425" lIns="91425" spcFirstLastPara="1" rIns="91425" wrap="non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1" u="sng">
                <a:solidFill>
                  <a:srgbClr val="1B365D"/>
                </a:solidFill>
                <a:latin typeface="Arial"/>
              </a:rPr>
              <a:t>WX UPDATE 12 OCT 2026</a:t>
            </a:r>
            <a:endParaRPr b="1" i="0" sz="2400" u="sng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4" name="Google Shape;94;p1"/>
          <p:cNvGraphicFramePr/>
          <p:nvPr/>
        </p:nvGraphicFramePr>
        <p:xfrm>
          <a:off x="0" y="475000"/>
          <a:ext cx="9144025" cy="2542032"/>
        </p:xfrm>
        <a:graphic>
          <a:graphicData uri="http://schemas.openxmlformats.org/drawingml/2006/table">
            <a:tbl>
              <a:tblPr>
                <a:noFill/>
                <a:tableStyleId>{769160A5-7151-40DC-AD2F-DF639DDC4D61}</a:tableStyleId>
              </a:tblPr>
              <a:tblGrid>
                <a:gridCol w="700000"/>
                <a:gridCol w="2200000"/>
                <a:gridCol w="1250000"/>
                <a:gridCol w="1700000"/>
                <a:gridCol w="1600000"/>
                <a:gridCol w="1694025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Ser No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Loc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Wx App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Forecast</a:t>
                      </a:r>
                      <a:endParaRPr b="1" sz="850" u="sng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Rain mm/%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Cloud cover 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Remarks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1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NASHIK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4%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sz="1400" u="none" cap="none" strike="noStrike">
                        <a:solidFill>
                          <a:srgbClr val="FF99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2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BIDAR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00FF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3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KADAPA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56%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52%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4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TIRUPATI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58%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42%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5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CHENNAI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40%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23%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95" name="Google Shape;95;p1"/>
          <p:cNvGraphicFramePr/>
          <p:nvPr/>
        </p:nvGraphicFramePr>
        <p:xfrm>
          <a:off x="4906737" y="4150000"/>
          <a:ext cx="3000000" cy="880000"/>
        </p:xfrm>
        <a:graphic>
          <a:graphicData uri="http://schemas.openxmlformats.org/drawingml/2006/table">
            <a:tbl>
              <a:tblPr bandRow="1" firstRow="1">
                <a:noFill/>
                <a:tableStyleId>{2234F602-4A12-4DC8-8E30-0103774CEA13}</a:tableStyleId>
              </a:tblPr>
              <a:tblGrid>
                <a:gridCol w="1412425"/>
                <a:gridCol w="1412425"/>
                <a:gridCol w="1412425"/>
              </a:tblGrid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t/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RAIN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CLOUD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&lt;1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&lt;50%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LTD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1-5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50%-90%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NO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93" name="Google Shape;93;p1"/>
          <p:cNvSpPr txBox="1"/>
          <p:nvPr/>
        </p:nvSpPr>
        <p:spPr>
          <a:xfrm>
            <a:off x="0" y="-104075"/>
            <a:ext cx="9144000" cy="550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91425" lIns="91425" spcFirstLastPara="1" rIns="91425" wrap="non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1" u="sng">
                <a:solidFill>
                  <a:srgbClr val="1B365D"/>
                </a:solidFill>
                <a:latin typeface="Arial"/>
              </a:rPr>
              <a:t>WX UPDATE 13 OCT 2026</a:t>
            </a:r>
            <a:endParaRPr b="1" i="0" sz="2400" u="sng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4" name="Google Shape;94;p1"/>
          <p:cNvGraphicFramePr/>
          <p:nvPr/>
        </p:nvGraphicFramePr>
        <p:xfrm>
          <a:off x="0" y="475000"/>
          <a:ext cx="9144025" cy="2542032"/>
        </p:xfrm>
        <a:graphic>
          <a:graphicData uri="http://schemas.openxmlformats.org/drawingml/2006/table">
            <a:tbl>
              <a:tblPr>
                <a:noFill/>
                <a:tableStyleId>{769160A5-7151-40DC-AD2F-DF639DDC4D61}</a:tableStyleId>
              </a:tblPr>
              <a:tblGrid>
                <a:gridCol w="700000"/>
                <a:gridCol w="2200000"/>
                <a:gridCol w="1250000"/>
                <a:gridCol w="1700000"/>
                <a:gridCol w="1600000"/>
                <a:gridCol w="1694025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Ser No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Loc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Wx App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Forecast</a:t>
                      </a:r>
                      <a:endParaRPr b="1" sz="850" u="sng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Rain mm/%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Cloud cover 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Remarks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1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NASHIK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sz="1400" u="none" cap="none" strike="noStrike">
                        <a:solidFill>
                          <a:srgbClr val="FF99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2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BIDAR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00FF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3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KADAPA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60%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4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TIRUPATI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25%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31%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5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CHENNAI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55%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48%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95" name="Google Shape;95;p1"/>
          <p:cNvGraphicFramePr/>
          <p:nvPr/>
        </p:nvGraphicFramePr>
        <p:xfrm>
          <a:off x="4906737" y="4150000"/>
          <a:ext cx="3000000" cy="880000"/>
        </p:xfrm>
        <a:graphic>
          <a:graphicData uri="http://schemas.openxmlformats.org/drawingml/2006/table">
            <a:tbl>
              <a:tblPr bandRow="1" firstRow="1">
                <a:noFill/>
                <a:tableStyleId>{2234F602-4A12-4DC8-8E30-0103774CEA13}</a:tableStyleId>
              </a:tblPr>
              <a:tblGrid>
                <a:gridCol w="1412425"/>
                <a:gridCol w="1412425"/>
                <a:gridCol w="1412425"/>
              </a:tblGrid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t/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RAIN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CLOUD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&lt;1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&lt;50%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LTD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1-5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50%-90%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NO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93" name="Google Shape;93;p1"/>
          <p:cNvSpPr txBox="1"/>
          <p:nvPr/>
        </p:nvSpPr>
        <p:spPr>
          <a:xfrm>
            <a:off x="0" y="-104075"/>
            <a:ext cx="9144000" cy="550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91425" lIns="91425" spcFirstLastPara="1" rIns="91425" wrap="non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1" u="sng">
                <a:solidFill>
                  <a:srgbClr val="1B365D"/>
                </a:solidFill>
                <a:latin typeface="Arial"/>
              </a:rPr>
              <a:t>WX UPDATE 14 OCT 2026</a:t>
            </a:r>
            <a:endParaRPr b="1" i="0" sz="2400" u="sng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4" name="Google Shape;94;p1"/>
          <p:cNvGraphicFramePr/>
          <p:nvPr/>
        </p:nvGraphicFramePr>
        <p:xfrm>
          <a:off x="0" y="475000"/>
          <a:ext cx="9144025" cy="2542032"/>
        </p:xfrm>
        <a:graphic>
          <a:graphicData uri="http://schemas.openxmlformats.org/drawingml/2006/table">
            <a:tbl>
              <a:tblPr>
                <a:noFill/>
                <a:tableStyleId>{769160A5-7151-40DC-AD2F-DF639DDC4D61}</a:tableStyleId>
              </a:tblPr>
              <a:tblGrid>
                <a:gridCol w="700000"/>
                <a:gridCol w="2200000"/>
                <a:gridCol w="1250000"/>
                <a:gridCol w="1700000"/>
                <a:gridCol w="1600000"/>
                <a:gridCol w="1694025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Ser No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Loc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Wx App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Forecast</a:t>
                      </a:r>
                      <a:endParaRPr b="1" sz="850" u="sng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Rain mm/%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Cloud cover 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Remarks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1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NASHIK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sz="1400" u="none" cap="none" strike="noStrike">
                        <a:solidFill>
                          <a:srgbClr val="FF99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2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BIDAR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00FF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3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KADAPA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55%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47%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4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TIRUPATI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3%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91%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0000"/>
                          </a:solidFill>
                          <a:latin typeface="Arial"/>
                        </a:rPr>
                        <a:t>NO 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5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CHENNAI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1.4mm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58%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75%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76%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95" name="Google Shape;95;p1"/>
          <p:cNvGraphicFramePr/>
          <p:nvPr/>
        </p:nvGraphicFramePr>
        <p:xfrm>
          <a:off x="4906737" y="4150000"/>
          <a:ext cx="3000000" cy="880000"/>
        </p:xfrm>
        <a:graphic>
          <a:graphicData uri="http://schemas.openxmlformats.org/drawingml/2006/table">
            <a:tbl>
              <a:tblPr bandRow="1" firstRow="1">
                <a:noFill/>
                <a:tableStyleId>{2234F602-4A12-4DC8-8E30-0103774CEA13}</a:tableStyleId>
              </a:tblPr>
              <a:tblGrid>
                <a:gridCol w="1412425"/>
                <a:gridCol w="1412425"/>
                <a:gridCol w="1412425"/>
              </a:tblGrid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t/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RAIN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CLOUD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&lt;1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&lt;50%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LTD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1-5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50%-90%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NO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93" name="Google Shape;93;p1"/>
          <p:cNvSpPr txBox="1"/>
          <p:nvPr/>
        </p:nvSpPr>
        <p:spPr>
          <a:xfrm>
            <a:off x="0" y="-104075"/>
            <a:ext cx="9144000" cy="550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91425" lIns="91425" spcFirstLastPara="1" rIns="91425" wrap="non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1" u="sng">
                <a:solidFill>
                  <a:srgbClr val="1B365D"/>
                </a:solidFill>
                <a:latin typeface="Arial"/>
              </a:rPr>
              <a:t>WX UPDATE 15 OCT 2026</a:t>
            </a:r>
            <a:endParaRPr b="1" i="0" sz="2400" u="sng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4" name="Google Shape;94;p1"/>
          <p:cNvGraphicFramePr/>
          <p:nvPr/>
        </p:nvGraphicFramePr>
        <p:xfrm>
          <a:off x="0" y="475000"/>
          <a:ext cx="9144025" cy="2542032"/>
        </p:xfrm>
        <a:graphic>
          <a:graphicData uri="http://schemas.openxmlformats.org/drawingml/2006/table">
            <a:tbl>
              <a:tblPr>
                <a:noFill/>
                <a:tableStyleId>{769160A5-7151-40DC-AD2F-DF639DDC4D61}</a:tableStyleId>
              </a:tblPr>
              <a:tblGrid>
                <a:gridCol w="700000"/>
                <a:gridCol w="2200000"/>
                <a:gridCol w="1250000"/>
                <a:gridCol w="1700000"/>
                <a:gridCol w="1600000"/>
                <a:gridCol w="1694025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Ser No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Loc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Wx App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Forecast</a:t>
                      </a:r>
                      <a:endParaRPr b="1" sz="850" u="sng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Rain mm/%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Cloud cover 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Remarks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1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NASHIK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3%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sz="1400" u="none" cap="none" strike="noStrike">
                        <a:solidFill>
                          <a:srgbClr val="FF99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2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BIDAR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1%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3%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00FF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3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KADAPA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25%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71%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4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TIRUPATI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4%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56%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5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CHENNAI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0.2mm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75%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63%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95" name="Google Shape;95;p1"/>
          <p:cNvGraphicFramePr/>
          <p:nvPr/>
        </p:nvGraphicFramePr>
        <p:xfrm>
          <a:off x="4906737" y="4150000"/>
          <a:ext cx="3000000" cy="880000"/>
        </p:xfrm>
        <a:graphic>
          <a:graphicData uri="http://schemas.openxmlformats.org/drawingml/2006/table">
            <a:tbl>
              <a:tblPr bandRow="1" firstRow="1">
                <a:noFill/>
                <a:tableStyleId>{2234F602-4A12-4DC8-8E30-0103774CEA13}</a:tableStyleId>
              </a:tblPr>
              <a:tblGrid>
                <a:gridCol w="1412425"/>
                <a:gridCol w="1412425"/>
                <a:gridCol w="1412425"/>
              </a:tblGrid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t/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RAIN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CLOUD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&lt;1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&lt;50%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LTD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1-5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50%-90%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NO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93" name="Google Shape;93;p1"/>
          <p:cNvSpPr txBox="1"/>
          <p:nvPr/>
        </p:nvSpPr>
        <p:spPr>
          <a:xfrm>
            <a:off x="0" y="-104075"/>
            <a:ext cx="9144000" cy="550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91425" lIns="91425" spcFirstLastPara="1" rIns="91425" wrap="non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1" u="sng">
                <a:solidFill>
                  <a:srgbClr val="1B365D"/>
                </a:solidFill>
                <a:latin typeface="Arial"/>
              </a:rPr>
              <a:t>WX UPDATE 16 OCT 2026</a:t>
            </a:r>
            <a:endParaRPr b="1" i="0" sz="2400" u="sng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4" name="Google Shape;94;p1"/>
          <p:cNvGraphicFramePr/>
          <p:nvPr/>
        </p:nvGraphicFramePr>
        <p:xfrm>
          <a:off x="0" y="475000"/>
          <a:ext cx="9144025" cy="2542032"/>
        </p:xfrm>
        <a:graphic>
          <a:graphicData uri="http://schemas.openxmlformats.org/drawingml/2006/table">
            <a:tbl>
              <a:tblPr>
                <a:noFill/>
                <a:tableStyleId>{769160A5-7151-40DC-AD2F-DF639DDC4D61}</a:tableStyleId>
              </a:tblPr>
              <a:tblGrid>
                <a:gridCol w="700000"/>
                <a:gridCol w="2200000"/>
                <a:gridCol w="1250000"/>
                <a:gridCol w="1700000"/>
                <a:gridCol w="1600000"/>
                <a:gridCol w="1694025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Ser No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Loc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Wx App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Forecast</a:t>
                      </a:r>
                      <a:endParaRPr b="1" sz="850" u="sng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Rain mm/%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Cloud cover %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1300" u="sng" cap="none" strike="noStrike">
                          <a:latin typeface="Arial"/>
                        </a:rPr>
                        <a:t>Remarks</a:t>
                      </a:r>
                      <a:endParaRPr b="1" sz="850" u="sng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1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NASHIK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1%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50%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3%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sz="1400" u="none" cap="none" strike="noStrike">
                        <a:solidFill>
                          <a:srgbClr val="FF99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2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BIDAR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b="1" sz="85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30%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00FF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3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KADAPA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55%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30%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C00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4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TIRUPATI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60%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20%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51%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00B050"/>
                          </a:solidFill>
                          <a:latin typeface="Arial"/>
                        </a:rPr>
                        <a:t>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latin typeface="Arial"/>
                        </a:rPr>
                        <a:t>5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r>
                        <a:rPr sz="1250" b="1">
                          <a:latin typeface="Arial"/>
                        </a:rPr>
                        <a:t>CHENNAI</a:t>
                      </a:r>
                    </a:p>
                  </a:txBody>
                  <a:tcPr marT="91425" marB="91425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Windy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Accuwx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0.2mm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55%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75%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>
                          <a:latin typeface="Arial"/>
                        </a:rPr>
                        <a:t>19%</a:t>
                      </a:r>
                      <a:endParaRPr b="1" sz="850" u="none" cap="none" strike="noStrike"/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non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FF0000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50"/>
                        <a:buFont typeface="Arial"/>
                        <a:buNone/>
                        <a:defRPr spc="0" sz="1400" u="none" cap="none" strike="noStrike"/>
                      </a:pPr>
                      <a:r>
                        <a:rPr sz="1200" b="1">
                          <a:solidFill>
                            <a:srgbClr val="FFC000"/>
                          </a:solidFill>
                          <a:latin typeface="Arial"/>
                        </a:rPr>
                        <a:t>LTD GO</a:t>
                      </a:r>
                      <a:endParaRPr b="1" sz="850" u="none" cap="none" strike="noStrike">
                        <a:solidFill>
                          <a:srgbClr val="00B050"/>
                        </a:solidFill>
                      </a:endParaRPr>
                    </a:p>
                  </a:txBody>
                  <a:tcPr marT="18288" marB="18288" marR="36576" marL="36576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95" name="Google Shape;95;p1"/>
          <p:cNvGraphicFramePr/>
          <p:nvPr/>
        </p:nvGraphicFramePr>
        <p:xfrm>
          <a:off x="4906737" y="4150000"/>
          <a:ext cx="3000000" cy="880000"/>
        </p:xfrm>
        <a:graphic>
          <a:graphicData uri="http://schemas.openxmlformats.org/drawingml/2006/table">
            <a:tbl>
              <a:tblPr bandRow="1" firstRow="1">
                <a:noFill/>
                <a:tableStyleId>{2234F602-4A12-4DC8-8E30-0103774CEA13}</a:tableStyleId>
              </a:tblPr>
              <a:tblGrid>
                <a:gridCol w="1412425"/>
                <a:gridCol w="1412425"/>
                <a:gridCol w="1412425"/>
              </a:tblGrid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t/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RAIN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b="1" lang="en-IN" sz="900" u="sng" cap="none" strike="noStrike"/>
                        <a:t>CLOUD</a:t>
                      </a:r>
                      <a:endParaRPr b="1" sz="900" u="sng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&lt;1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&lt;50%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LTD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1-5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50%-90%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21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/>
                        <a:t>NO GO</a:t>
                      </a:r>
                      <a:endParaRPr sz="9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&gt;5 MM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  <a:defRPr spc="0" sz="1400" u="none" cap="none" strike="noStrike"/>
                      </a:pPr>
                      <a:r>
                        <a:rPr lang="en-IN" sz="9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&gt;90%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MAHARASHTRA (12 OCT 2026)</a:t>
            </a:r>
          </a:p>
        </p:txBody>
      </p:sp>
      <p:pic>
        <p:nvPicPr>
          <p:cNvPr id="3" name="Picture 2" descr="imd_maharashtra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KARNATAKA (12 OCT 2026)</a:t>
            </a:r>
          </a:p>
        </p:txBody>
      </p:sp>
      <p:pic>
        <p:nvPicPr>
          <p:cNvPr id="3" name="Picture 2" descr="imd_karnataka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ANDHRA PRADESH (12 OCT 2026)</a:t>
            </a:r>
          </a:p>
        </p:txBody>
      </p:sp>
      <p:pic>
        <p:nvPicPr>
          <p:cNvPr id="3" name="Picture 2" descr="imd_andhra_pradesh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TAMIL NADU (12 OCT 2026)</a:t>
            </a:r>
          </a:p>
        </p:txBody>
      </p:sp>
      <p:pic>
        <p:nvPicPr>
          <p:cNvPr id="3" name="Picture 2" descr="imd_tamil_nadu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MAHARASHTRA (13 OCT 2026)</a:t>
            </a:r>
          </a:p>
        </p:txBody>
      </p:sp>
      <p:pic>
        <p:nvPicPr>
          <p:cNvPr id="3" name="Picture 2" descr="imd_maharashtra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KARNATAKA (13 OCT 2026)</a:t>
            </a:r>
          </a:p>
        </p:txBody>
      </p:sp>
      <p:pic>
        <p:nvPicPr>
          <p:cNvPr id="3" name="Picture 2" descr="imd_karnataka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ANDHRA PRADESH (13 OCT 2026)</a:t>
            </a:r>
          </a:p>
        </p:txBody>
      </p:sp>
      <p:pic>
        <p:nvPicPr>
          <p:cNvPr id="3" name="Picture 2" descr="imd_andhra_pradesh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TAMIL NADU (13 OCT 2026)</a:t>
            </a:r>
          </a:p>
        </p:txBody>
      </p:sp>
      <p:pic>
        <p:nvPicPr>
          <p:cNvPr id="3" name="Picture 2" descr="imd_tamil_nadu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MAHARASHTRA (14 OCT 2026)</a:t>
            </a:r>
          </a:p>
        </p:txBody>
      </p:sp>
      <p:pic>
        <p:nvPicPr>
          <p:cNvPr id="3" name="Picture 2" descr="imd_maharashtra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KARNATAKA (14 OCT 2026)</a:t>
            </a:r>
          </a:p>
        </p:txBody>
      </p:sp>
      <p:pic>
        <p:nvPicPr>
          <p:cNvPr id="3" name="Picture 2" descr="imd_karnataka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ANDHRA PRADESH (14 OCT 2026)</a:t>
            </a:r>
          </a:p>
        </p:txBody>
      </p:sp>
      <p:pic>
        <p:nvPicPr>
          <p:cNvPr id="3" name="Picture 2" descr="imd_andhra_pradesh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TAMIL NADU (14 OCT 2026)</a:t>
            </a:r>
          </a:p>
        </p:txBody>
      </p:sp>
      <p:pic>
        <p:nvPicPr>
          <p:cNvPr id="3" name="Picture 2" descr="imd_tamil_nadu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MAHARASHTRA (15 OCT 2026)</a:t>
            </a:r>
          </a:p>
        </p:txBody>
      </p:sp>
      <p:pic>
        <p:nvPicPr>
          <p:cNvPr id="3" name="Picture 2" descr="imd_maharashtra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KARNATAKA (15 OCT 2026)</a:t>
            </a:r>
          </a:p>
        </p:txBody>
      </p:sp>
      <p:pic>
        <p:nvPicPr>
          <p:cNvPr id="3" name="Picture 2" descr="imd_karnataka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ANDHRA PRADESH (15 OCT 2026)</a:t>
            </a:r>
          </a:p>
        </p:txBody>
      </p:sp>
      <p:pic>
        <p:nvPicPr>
          <p:cNvPr id="3" name="Picture 2" descr="imd_andhra_pradesh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TAMIL NADU (15 OCT 2026)</a:t>
            </a:r>
          </a:p>
        </p:txBody>
      </p:sp>
      <p:pic>
        <p:nvPicPr>
          <p:cNvPr id="3" name="Picture 2" descr="imd_tamil_nadu_20261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48640"/>
            <a:ext cx="6858000" cy="3977639"/>
          </a:xfrm>
          <a:prstGeom prst="rect">
            <a:avLst/>
          </a:prstGeom>
        </p:spPr>
      </p:pic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MAHARASHTRA (16 OCT 2026)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548640"/>
            <a:ext cx="6858000" cy="3977639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Arial"/>
              </a:defRPr>
            </a:pPr>
            <a:r>
              <a:t>DATA NOT AVAILABLE ON IMD WEBSITE</a:t>
            </a:r>
          </a:p>
          <a:p>
            <a:pPr algn="ctr">
              <a:spcBef>
                <a:spcPts val="1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(Exceeds 6-day forecast horizon)</a:t>
            </a:r>
            <a:br/>
            <a:r>
              <a:t>IMD provides daily district-wise GIS warnings up to 6 days ahead.</a:t>
            </a:r>
          </a:p>
        </p:txBody>
      </p:sp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KARNATAKA (16 OCT 2026)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548640"/>
            <a:ext cx="6858000" cy="3977639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Arial"/>
              </a:defRPr>
            </a:pPr>
            <a:r>
              <a:t>DATA NOT AVAILABLE ON IMD WEBSITE</a:t>
            </a:r>
          </a:p>
          <a:p>
            <a:pPr algn="ctr">
              <a:spcBef>
                <a:spcPts val="1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(Exceeds 6-day forecast horizon)</a:t>
            </a:r>
            <a:br/>
            <a:r>
              <a:t>IMD provides daily district-wise GIS warnings up to 6 days ahead.</a:t>
            </a:r>
          </a:p>
        </p:txBody>
      </p:sp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ANDHRA PRADESH (16 OCT 2026)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548640"/>
            <a:ext cx="6858000" cy="3977639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Arial"/>
              </a:defRPr>
            </a:pPr>
            <a:r>
              <a:t>DATA NOT AVAILABLE ON IMD WEBSITE</a:t>
            </a:r>
          </a:p>
          <a:p>
            <a:pPr algn="ctr">
              <a:spcBef>
                <a:spcPts val="1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(Exceeds 6-day forecast horizon)</a:t>
            </a:r>
            <a:br/>
            <a:r>
              <a:t>IMD provides daily district-wise GIS warnings up to 6 days ahead.</a:t>
            </a:r>
          </a:p>
        </p:txBody>
      </p:sp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u="sng">
                <a:solidFill>
                  <a:srgbClr val="1B365D"/>
                </a:solidFill>
                <a:latin typeface="Arial"/>
              </a:rPr>
              <a:t>IMD DISTRICT-WISE WARNING — TAMIL NADU (16 OCT 2026)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548640"/>
            <a:ext cx="6858000" cy="3977639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Arial"/>
              </a:defRPr>
            </a:pPr>
            <a:r>
              <a:t>DATA NOT AVAILABLE ON IMD WEBSITE</a:t>
            </a:r>
          </a:p>
          <a:p>
            <a:pPr algn="ctr">
              <a:spcBef>
                <a:spcPts val="1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(Exceeds 6-day forecast horizon)</a:t>
            </a:r>
            <a:br/>
            <a:r>
              <a:t>IMD provides daily district-wise GIS warnings up to 6 days ahead.</a:t>
            </a:r>
          </a:p>
        </p:txBody>
      </p:sp>
      <p:pic>
        <p:nvPicPr>
          <p:cNvPr id="4" name="Picture 3" descr="imd_legend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81728"/>
            <a:ext cx="6583680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