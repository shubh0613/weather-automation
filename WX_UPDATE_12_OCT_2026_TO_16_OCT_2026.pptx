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4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4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4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4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4.xml><?xml version="1.0" encoding="utf-8"?>
<a:tblStyleLst xmlns:a="http://schemas.openxmlformats.org/drawingml/2006/main" xmlns:r="http://schemas.openxmlformats.org/officeDocument/2006/relationships" def="{769160A5-7151-40DC-AD2F-DF639DDC4D61}">
  <a:tblStyle styleId="{769160A5-7151-40DC-AD2F-DF639DDC4D6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234F602-4A12-4DC8-8E30-0103774CEA1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F7F2801-9FCB-4CD0-8AA1-7FAD774389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87E5646-E173-412A-A48C-22DDCCAAC9C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4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4.xml"/><Relationship Id="rId3" Type="http://schemas.openxmlformats.org/officeDocument/2006/relationships/presProps" Target="presProps4.xml"/><Relationship Id="rId4" Type="http://schemas.openxmlformats.org/officeDocument/2006/relationships/tableStyles" Target="tableStyles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C0114D0-443D-1458-5CEA-B454FF1E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3F8164D-B529-1E2D-90A4-CEAF68E29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2875D5A-8299-6397-98C9-B4D572D1C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81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/>
        </p:nvSpPr>
        <p:spPr>
          <a:xfrm>
            <a:off x="0" y="2116610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1600" b="1" u="sng">
                <a:solidFill>
                  <a:srgbClr val="1B365D"/>
                </a:solidFill>
                <a:latin typeface="Arial"/>
              </a:rPr>
              <a:t>WX UPDATE 12 OCT 2026 - 16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u="sng">
                <a:solidFill>
                  <a:srgbClr val="1B365D"/>
                </a:solidFill>
                <a:latin typeface="Arial"/>
              </a:rPr>
              <a:t>WX UPDATE 12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75000"/>
          <a:ext cx="9144025" cy="2542032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00000"/>
                <a:gridCol w="2200000"/>
                <a:gridCol w="1250000"/>
                <a:gridCol w="1700000"/>
                <a:gridCol w="1600000"/>
                <a:gridCol w="1694025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Ser No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Loc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Wx App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Rain mm/%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Cloud cover 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Remarks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1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NASHIK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2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BIDAR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3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KADAPA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0.5mm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56%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85%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52%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4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TIRUPATI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0.7mm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58%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85%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42%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5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CHENNAI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1.4mm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85%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150000"/>
          <a:ext cx="3000000" cy="88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u="sng">
                <a:solidFill>
                  <a:srgbClr val="1B365D"/>
                </a:solidFill>
                <a:latin typeface="Arial"/>
              </a:rPr>
              <a:t>WX UPDATE 13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75000"/>
          <a:ext cx="9144025" cy="2542032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00000"/>
                <a:gridCol w="2200000"/>
                <a:gridCol w="1250000"/>
                <a:gridCol w="1700000"/>
                <a:gridCol w="1600000"/>
                <a:gridCol w="1694025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Ser No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Loc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Wx App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Rain mm/%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Cloud cover 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Remarks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1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NASHIK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2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BIDAR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3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KADAPA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60%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4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TIRUPATI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3.5mm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85%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5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CHENNAI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48%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150000"/>
          <a:ext cx="3000000" cy="88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u="sng">
                <a:solidFill>
                  <a:srgbClr val="1B365D"/>
                </a:solidFill>
                <a:latin typeface="Arial"/>
              </a:rPr>
              <a:t>WX UPDATE 14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75000"/>
          <a:ext cx="9144025" cy="2542032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00000"/>
                <a:gridCol w="2200000"/>
                <a:gridCol w="1250000"/>
                <a:gridCol w="1700000"/>
                <a:gridCol w="1600000"/>
                <a:gridCol w="1694025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Ser No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Loc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Wx App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Rain mm/%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Cloud cover 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Remarks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1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NASHIK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2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BIDAR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3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KADAPA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47%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4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TIRUPATI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0.2mm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85%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91%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0000"/>
                          </a:solidFill>
                          <a:latin typeface="Arial"/>
                        </a:rPr>
                        <a:t>NO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5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CHENNAI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58%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76%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150000"/>
          <a:ext cx="3000000" cy="88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u="sng">
                <a:solidFill>
                  <a:srgbClr val="1B365D"/>
                </a:solidFill>
                <a:latin typeface="Arial"/>
              </a:rPr>
              <a:t>WX UPDATE 15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75000"/>
          <a:ext cx="9144025" cy="2542032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00000"/>
                <a:gridCol w="2200000"/>
                <a:gridCol w="1250000"/>
                <a:gridCol w="1700000"/>
                <a:gridCol w="1600000"/>
                <a:gridCol w="1694025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Ser No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Loc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Wx App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Rain mm/%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Cloud cover 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Remarks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1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NASHIK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2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BIDAR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3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KADAPA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71%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4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TIRUPATI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4%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56%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5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CHENNAI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63%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150000"/>
          <a:ext cx="3000000" cy="88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non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1" u="sng">
                <a:solidFill>
                  <a:srgbClr val="1B365D"/>
                </a:solidFill>
                <a:latin typeface="Arial"/>
              </a:rPr>
              <a:t>WX UPDATE 16 OCT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75000"/>
          <a:ext cx="9144025" cy="2542032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00000"/>
                <a:gridCol w="2200000"/>
                <a:gridCol w="1250000"/>
                <a:gridCol w="1700000"/>
                <a:gridCol w="1600000"/>
                <a:gridCol w="1694025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Ser No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Loc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Wx App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Rain mm/%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Cloud cover %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1300" u="sng" cap="none" strike="noStrike">
                          <a:latin typeface="Arial"/>
                        </a:rPr>
                        <a:t>Remarks</a:t>
                      </a:r>
                      <a:endParaRPr b="1" sz="850" u="sng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1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NASHIK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2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BIDAR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3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KADAPA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30%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4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TIRUPATI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60%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51%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Arial"/>
                        </a:rPr>
                        <a:t>5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r>
                        <a:rPr sz="1250" b="1">
                          <a:latin typeface="Arial"/>
                        </a:rPr>
                        <a:t>CHENNAI</a:t>
                      </a:r>
                    </a:p>
                  </a:txBody>
                  <a:tcPr marT="91425" marB="91425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Accuwx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55%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20%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>
                          <a:latin typeface="Arial"/>
                        </a:rPr>
                        <a:t>19%</a:t>
                      </a:r>
                      <a:endParaRPr b="1" sz="850" u="none" cap="none" strike="noStrike"/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non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00B050"/>
                          </a:solidFill>
                          <a:latin typeface="Arial"/>
                        </a:rPr>
                        <a:t>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sz="1200" b="1">
                          <a:solidFill>
                            <a:srgbClr val="FFC000"/>
                          </a:solidFill>
                          <a:latin typeface="Arial"/>
                        </a:rPr>
                        <a:t>LTD GO</a:t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18288" marB="18288" marR="36576" marL="36576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150000"/>
          <a:ext cx="3000000" cy="88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MAHARASHTRA (12 OCT 2026)</a:t>
            </a:r>
          </a:p>
        </p:txBody>
      </p:sp>
      <p:pic>
        <p:nvPicPr>
          <p:cNvPr id="3" name="Picture 2" descr="imd_maharashtr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KARNATAKA (12 OCT 2026)</a:t>
            </a:r>
          </a:p>
        </p:txBody>
      </p:sp>
      <p:pic>
        <p:nvPicPr>
          <p:cNvPr id="3" name="Picture 2" descr="imd_karnatak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ANDHRA PRADESH (12 OCT 2026)</a:t>
            </a:r>
          </a:p>
        </p:txBody>
      </p:sp>
      <p:pic>
        <p:nvPicPr>
          <p:cNvPr id="3" name="Picture 2" descr="imd_andhra_pradesh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TAMIL NADU (12 OCT 2026)</a:t>
            </a:r>
          </a:p>
        </p:txBody>
      </p:sp>
      <p:pic>
        <p:nvPicPr>
          <p:cNvPr id="3" name="Picture 2" descr="imd_tamil_nadu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MAHARASHTRA (13 OCT 2026)</a:t>
            </a:r>
          </a:p>
        </p:txBody>
      </p:sp>
      <p:pic>
        <p:nvPicPr>
          <p:cNvPr id="3" name="Picture 2" descr="imd_maharashtr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KARNATAKA (13 OCT 2026)</a:t>
            </a:r>
          </a:p>
        </p:txBody>
      </p:sp>
      <p:pic>
        <p:nvPicPr>
          <p:cNvPr id="3" name="Picture 2" descr="imd_karnatak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ANDHRA PRADESH (13 OCT 2026)</a:t>
            </a:r>
          </a:p>
        </p:txBody>
      </p:sp>
      <p:pic>
        <p:nvPicPr>
          <p:cNvPr id="3" name="Picture 2" descr="imd_andhra_pradesh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TAMIL NADU (13 OCT 2026)</a:t>
            </a:r>
          </a:p>
        </p:txBody>
      </p:sp>
      <p:pic>
        <p:nvPicPr>
          <p:cNvPr id="3" name="Picture 2" descr="imd_tamil_nadu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MAHARASHTRA (14 OCT 2026)</a:t>
            </a:r>
          </a:p>
        </p:txBody>
      </p:sp>
      <p:pic>
        <p:nvPicPr>
          <p:cNvPr id="3" name="Picture 2" descr="imd_maharashtr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KARNATAKA (14 OCT 2026)</a:t>
            </a:r>
          </a:p>
        </p:txBody>
      </p:sp>
      <p:pic>
        <p:nvPicPr>
          <p:cNvPr id="3" name="Picture 2" descr="imd_karnatak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ANDHRA PRADESH (14 OCT 2026)</a:t>
            </a:r>
          </a:p>
        </p:txBody>
      </p:sp>
      <p:pic>
        <p:nvPicPr>
          <p:cNvPr id="3" name="Picture 2" descr="imd_andhra_pradesh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TAMIL NADU (14 OCT 2026)</a:t>
            </a:r>
          </a:p>
        </p:txBody>
      </p:sp>
      <p:pic>
        <p:nvPicPr>
          <p:cNvPr id="3" name="Picture 2" descr="imd_tamil_nadu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MAHARASHTRA (15 OCT 2026)</a:t>
            </a:r>
          </a:p>
        </p:txBody>
      </p:sp>
      <p:pic>
        <p:nvPicPr>
          <p:cNvPr id="3" name="Picture 2" descr="imd_maharashtr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KARNATAKA (15 OCT 2026)</a:t>
            </a:r>
          </a:p>
        </p:txBody>
      </p:sp>
      <p:pic>
        <p:nvPicPr>
          <p:cNvPr id="3" name="Picture 2" descr="imd_karnataka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ANDHRA PRADESH (15 OCT 2026)</a:t>
            </a:r>
          </a:p>
        </p:txBody>
      </p:sp>
      <p:pic>
        <p:nvPicPr>
          <p:cNvPr id="3" name="Picture 2" descr="imd_andhra_pradesh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TAMIL NADU (15 OCT 2026)</a:t>
            </a:r>
          </a:p>
        </p:txBody>
      </p:sp>
      <p:pic>
        <p:nvPicPr>
          <p:cNvPr id="3" name="Picture 2" descr="imd_tamil_nadu_20261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48640"/>
            <a:ext cx="6858000" cy="3977639"/>
          </a:xfrm>
          <a:prstGeom prst="rect">
            <a:avLst/>
          </a:prstGeom>
        </p:spPr>
      </p:pic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MAHARASHTRA (16 OCT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548640"/>
            <a:ext cx="6858000" cy="3977639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t>DATA NOT AVAILABLE ON IMD WEBSITE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(Exceeds 6-day forecast horizon)</a:t>
            </a:r>
            <a:br/>
            <a:r>
              <a:t>IMD provides daily district-wise GIS warnings up to 6 days ahead.</a:t>
            </a:r>
          </a:p>
        </p:txBody>
      </p:sp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KARNATAKA (16 OCT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548640"/>
            <a:ext cx="6858000" cy="3977639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t>DATA NOT AVAILABLE ON IMD WEBSITE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(Exceeds 6-day forecast horizon)</a:t>
            </a:r>
            <a:br/>
            <a:r>
              <a:t>IMD provides daily district-wise GIS warnings up to 6 days ahead.</a:t>
            </a:r>
          </a:p>
        </p:txBody>
      </p:sp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ANDHRA PRADESH (16 OCT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548640"/>
            <a:ext cx="6858000" cy="3977639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t>DATA NOT AVAILABLE ON IMD WEBSITE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(Exceeds 6-day forecast horizon)</a:t>
            </a:r>
            <a:br/>
            <a:r>
              <a:t>IMD provides daily district-wise GIS warnings up to 6 days ahead.</a:t>
            </a:r>
          </a:p>
        </p:txBody>
      </p:sp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u="sng">
                <a:solidFill>
                  <a:srgbClr val="1B365D"/>
                </a:solidFill>
                <a:latin typeface="Arial"/>
              </a:rPr>
              <a:t>IMD DISTRICT-WISE WARNING — TAMIL NADU (16 OCT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548640"/>
            <a:ext cx="6858000" cy="3977639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t>DATA NOT AVAILABLE ON IMD WEBSITE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(Exceeds 6-day forecast horizon)</a:t>
            </a:r>
            <a:br/>
            <a:r>
              <a:t>IMD provides daily district-wise GIS warnings up to 6 days ahead.</a:t>
            </a:r>
          </a:p>
        </p:txBody>
      </p:sp>
      <p:pic>
        <p:nvPicPr>
          <p:cNvPr id="4" name="Picture 3" descr="imd_legend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81728"/>
            <a:ext cx="6583680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